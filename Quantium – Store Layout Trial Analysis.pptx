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0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7.png"/><Relationship Id="rId4" Type="http://schemas.openxmlformats.org/officeDocument/2006/relationships/image" Target="../media/image3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31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23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47743" y="2228850"/>
            <a:ext cx="9705732" cy="685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680"/>
              </a:lnSpc>
              <a:spcBef>
                <a:spcPts val="0"/>
              </a:spcBef>
              <a:spcAft>
                <a:spcPts val="1300"/>
              </a:spcAft>
            </a:pPr>
            <a:r>
              <a:rPr sz="3588" b="1">
                <a:solidFill>
                  <a:srgbClr val="FFFFFF"/>
                </a:solidFill>
              </a:rPr>
              <a:t>Quantium – </a:t>
            </a:r>
            <a:r>
              <a:rPr sz="3588" b="1">
                <a:solidFill>
                  <a:srgbClr val="64B5F6"/>
                </a:solidFill>
              </a:rPr>
              <a:t>Store Layout Trial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95527" y="3105149"/>
            <a:ext cx="639111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900"/>
              </a:spcAft>
            </a:pPr>
            <a:r>
              <a:rPr sz="1435" b="0">
                <a:solidFill>
                  <a:srgbClr val="FFFFFF"/>
                </a:solidFill>
              </a:rPr>
              <a:t>Customer Analytics &amp; Experimentation for Strategic Retail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074" y="3981449"/>
            <a:ext cx="213354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FFFFFF"/>
                </a:solidFill>
              </a:rPr>
              <a:t>Presented by: Ritesh Gupta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152796" y="4439210"/>
            <a:ext cx="190495" cy="1512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19489" y="4400550"/>
            <a:ext cx="84770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8010211665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552936" y="4444813"/>
            <a:ext cx="190495" cy="1400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9629" y="4400550"/>
            <a:ext cx="221926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riteshshahofficial1@gmail.com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476249"/>
            <a:ext cx="2886002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A237E"/>
                </a:solidFill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228" y="1428750"/>
            <a:ext cx="3238419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3949AB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3949AB"/>
                </a:solidFill>
              </a:rPr>
              <a:t> Objective 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483995"/>
            <a:ext cx="228594" cy="19430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7228" y="1914525"/>
            <a:ext cx="3238419" cy="4276725"/>
          </a:xfrm>
          <a:prstGeom prst="roundRect">
            <a:avLst>
              <a:gd name="adj" fmla="val 4705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95347" y="2169795"/>
            <a:ext cx="228594" cy="1943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6813" y="2152650"/>
            <a:ext cx="2390715" cy="8572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</a:rPr>
              <a:t>Evaluate the impact of </a:t>
            </a:r>
            <a:r>
              <a:rPr sz="1196" b="1">
                <a:solidFill>
                  <a:srgbClr val="3949AB"/>
                </a:solidFill>
              </a:rPr>
              <a:t>new store layouts</a:t>
            </a:r>
            <a:r>
              <a:rPr sz="1196" b="0">
                <a:solidFill>
                  <a:srgbClr val="000000"/>
                </a:solidFill>
              </a:rPr>
              <a:t> on chip sales and customer behavior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76638" y="1428750"/>
            <a:ext cx="3238419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3949AB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3949AB"/>
                </a:solidFill>
              </a:rPr>
              <a:t> Scope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476638" y="1493996"/>
            <a:ext cx="228594" cy="17430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476638" y="1914525"/>
            <a:ext cx="3238419" cy="4276725"/>
          </a:xfrm>
          <a:prstGeom prst="roundRect">
            <a:avLst>
              <a:gd name="adj" fmla="val 4705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714757" y="2178367"/>
            <a:ext cx="228594" cy="1771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86222" y="2152650"/>
            <a:ext cx="2390715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</a:rPr>
              <a:t>Analyze customer purchasing behavior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714757" y="2918460"/>
            <a:ext cx="228594" cy="12572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86222" y="2867025"/>
            <a:ext cx="2390715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</a:rPr>
              <a:t>Measure uplift from layout trials in </a:t>
            </a:r>
            <a:r>
              <a:rPr sz="1196" b="1">
                <a:solidFill>
                  <a:srgbClr val="3949AB"/>
                </a:solidFill>
              </a:rPr>
              <a:t>Stores 77, 86, and 88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047" y="1428750"/>
            <a:ext cx="3238419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3949AB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3949AB"/>
                </a:solidFill>
              </a:rPr>
              <a:t> Deliverables 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096047" y="1482566"/>
            <a:ext cx="228594" cy="197167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096047" y="1914525"/>
            <a:ext cx="3238419" cy="4276725"/>
          </a:xfrm>
          <a:prstGeom prst="roundRect">
            <a:avLst>
              <a:gd name="adj" fmla="val 4705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334166" y="2181225"/>
            <a:ext cx="228594" cy="1714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705632" y="2152650"/>
            <a:ext cx="159063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</a:rPr>
              <a:t>Data-driven insights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334166" y="2612707"/>
            <a:ext cx="228594" cy="16573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705632" y="2581275"/>
            <a:ext cx="179065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</a:rPr>
              <a:t>Control store selection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334166" y="3041332"/>
            <a:ext cx="228594" cy="16573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705632" y="3009900"/>
            <a:ext cx="2390715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</a:rPr>
              <a:t>Uplift testing and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476249"/>
            <a:ext cx="4619509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A237E"/>
                </a:solidFill>
              </a:rPr>
              <a:t>Task 1 – Customer Analytics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238249"/>
            <a:ext cx="10858228" cy="1247775"/>
          </a:xfrm>
          <a:prstGeom prst="roundRect">
            <a:avLst>
              <a:gd name="adj" fmla="val 12213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4852" y="1476375"/>
            <a:ext cx="10381990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3949AB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3949AB"/>
                </a:solidFill>
              </a:rPr>
              <a:t> Data Preparation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04852" y="1510664"/>
            <a:ext cx="228594" cy="21717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04852" y="1979295"/>
            <a:ext cx="228594" cy="1943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76318" y="1962149"/>
            <a:ext cx="454331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</a:rPr>
              <a:t>Cleaned and validated </a:t>
            </a:r>
            <a:r>
              <a:rPr sz="1196" b="1">
                <a:solidFill>
                  <a:srgbClr val="3949AB"/>
                </a:solidFill>
              </a:rPr>
              <a:t>QVI transaction</a:t>
            </a:r>
            <a:r>
              <a:rPr sz="1196" b="0">
                <a:solidFill>
                  <a:srgbClr val="000000"/>
                </a:solidFill>
              </a:rPr>
              <a:t> and behavior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2724150"/>
            <a:ext cx="5314817" cy="3657600"/>
          </a:xfrm>
          <a:prstGeom prst="roundRect">
            <a:avLst>
              <a:gd name="adj" fmla="val 4166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4852" y="2962274"/>
            <a:ext cx="4838579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3949AB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3949AB"/>
                </a:solidFill>
              </a:rPr>
              <a:t> Engineered Features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04852" y="2995136"/>
            <a:ext cx="228594" cy="220027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04852" y="3490912"/>
            <a:ext cx="228594" cy="1428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76318" y="3448049"/>
            <a:ext cx="284790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949AB"/>
                </a:solidFill>
              </a:rPr>
              <a:t>Brand extraction</a:t>
            </a:r>
            <a:r>
              <a:rPr sz="1196" b="0">
                <a:solidFill>
                  <a:srgbClr val="000000"/>
                </a:solidFill>
              </a:rPr>
              <a:t> from product data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04852" y="3893819"/>
            <a:ext cx="228594" cy="19430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76318" y="3876674"/>
            <a:ext cx="304792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</a:rPr>
              <a:t>Pack size (grams) and bucketed ranges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04852" y="4356734"/>
            <a:ext cx="228594" cy="12572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76318" y="4305300"/>
            <a:ext cx="433376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</a:rPr>
              <a:t>Integrated customer segments: </a:t>
            </a:r>
            <a:r>
              <a:rPr sz="1196" b="1">
                <a:solidFill>
                  <a:srgbClr val="3949AB"/>
                </a:solidFill>
              </a:rPr>
              <a:t>LIFESTAGE × PREMIUM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0144" y="2724150"/>
            <a:ext cx="5314817" cy="3657600"/>
          </a:xfrm>
          <a:prstGeom prst="roundRect">
            <a:avLst>
              <a:gd name="adj" fmla="val 4166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7788" y="2962274"/>
            <a:ext cx="4838579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3949AB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3949AB"/>
                </a:solidFill>
              </a:rPr>
              <a:t> Built KPIs 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457788" y="3019424"/>
            <a:ext cx="228594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57788" y="3479482"/>
            <a:ext cx="228594" cy="16573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19729" y="3448049"/>
            <a:ext cx="333366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</a:rPr>
              <a:t>Revenue, transactions, units per customer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57788" y="3893819"/>
            <a:ext cx="228594" cy="19430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819729" y="3876674"/>
            <a:ext cx="250501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</a:rPr>
              <a:t>Segment share and penetration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4590935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A237E"/>
                </a:solidFill>
              </a:rPr>
              <a:t>Customer Insights &amp; Trends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047749"/>
            <a:ext cx="4228994" cy="1047749"/>
          </a:xfrm>
          <a:prstGeom prst="roundRect">
            <a:avLst>
              <a:gd name="adj" fmla="val 14545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04852" y="1307306"/>
            <a:ext cx="228594" cy="1857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76318" y="1285875"/>
            <a:ext cx="3381290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949AB"/>
                </a:solidFill>
              </a:rPr>
              <a:t>Premium segments</a:t>
            </a:r>
            <a:r>
              <a:rPr sz="1196" b="0">
                <a:solidFill>
                  <a:srgbClr val="000000"/>
                </a:solidFill>
              </a:rPr>
              <a:t> contributed the most to revenue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286000"/>
            <a:ext cx="4228994" cy="1047749"/>
          </a:xfrm>
          <a:prstGeom prst="roundRect">
            <a:avLst>
              <a:gd name="adj" fmla="val 14545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04852" y="2541270"/>
            <a:ext cx="228594" cy="194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76318" y="2524125"/>
            <a:ext cx="3381290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949AB"/>
                </a:solidFill>
              </a:rPr>
              <a:t>Mid-size packs (200–400g)</a:t>
            </a:r>
            <a:r>
              <a:rPr sz="1196" b="0">
                <a:solidFill>
                  <a:srgbClr val="000000"/>
                </a:solidFill>
              </a:rPr>
              <a:t> were most popular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3524250"/>
            <a:ext cx="4228994" cy="761999"/>
          </a:xfrm>
          <a:prstGeom prst="roundRect">
            <a:avLst>
              <a:gd name="adj" fmla="val 20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04852" y="3805237"/>
            <a:ext cx="228594" cy="1428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76318" y="3762374"/>
            <a:ext cx="280980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</a:rPr>
              <a:t>Top brands: </a:t>
            </a:r>
            <a:r>
              <a:rPr sz="1196" b="1">
                <a:solidFill>
                  <a:srgbClr val="3949AB"/>
                </a:solidFill>
              </a:rPr>
              <a:t>Smiths, Doritos, Kettle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4476750"/>
            <a:ext cx="4228994" cy="1047749"/>
          </a:xfrm>
          <a:prstGeom prst="roundRect">
            <a:avLst>
              <a:gd name="adj" fmla="val 14545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04852" y="4730591"/>
            <a:ext cx="228594" cy="19716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76318" y="4714875"/>
            <a:ext cx="3381290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</a:rPr>
              <a:t>Seasonal trends observed in chip purchases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1470" y="1962149"/>
            <a:ext cx="6343491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3949AB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3949AB"/>
                </a:solidFill>
              </a:rPr>
              <a:t> Revenue by Customer Segment 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181470" y="2033587"/>
            <a:ext cx="228594" cy="142875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181470" y="2400300"/>
            <a:ext cx="6343491" cy="3067050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525766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A237E"/>
                </a:solidFill>
              </a:rPr>
              <a:t>Task 2 – Experimentation Setup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047749"/>
            <a:ext cx="5286242" cy="2428875"/>
          </a:xfrm>
          <a:prstGeom prst="roundRect">
            <a:avLst>
              <a:gd name="adj" fmla="val 6274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4852" y="1285875"/>
            <a:ext cx="481000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3949AB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3949AB"/>
                </a:solidFill>
              </a:rPr>
              <a:t> Trial Stores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04852" y="1345882"/>
            <a:ext cx="228594" cy="16573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323941" y="2171700"/>
            <a:ext cx="761980" cy="761999"/>
          </a:xfrm>
          <a:prstGeom prst="roundRect">
            <a:avLst>
              <a:gd name="adj" fmla="val 50000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3941" y="2171700"/>
            <a:ext cx="761980" cy="761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3949AB"/>
                </a:solidFill>
              </a:rPr>
              <a:t>77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4101" y="2171700"/>
            <a:ext cx="761980" cy="761999"/>
          </a:xfrm>
          <a:prstGeom prst="roundRect">
            <a:avLst>
              <a:gd name="adj" fmla="val 50000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4101" y="2171700"/>
            <a:ext cx="761980" cy="761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3949AB"/>
                </a:solidFill>
              </a:rPr>
              <a:t>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33786" y="2171700"/>
            <a:ext cx="761980" cy="761999"/>
          </a:xfrm>
          <a:prstGeom prst="roundRect">
            <a:avLst>
              <a:gd name="adj" fmla="val 50000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3786" y="2171700"/>
            <a:ext cx="761980" cy="761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3949AB"/>
                </a:solidFill>
              </a:rPr>
              <a:t>88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3667124"/>
            <a:ext cx="5286242" cy="2714625"/>
          </a:xfrm>
          <a:prstGeom prst="roundRect">
            <a:avLst>
              <a:gd name="adj" fmla="val 5614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852" y="3905249"/>
            <a:ext cx="481000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3949AB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3949AB"/>
                </a:solidFill>
              </a:rPr>
              <a:t> Metrics Analyzed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04852" y="3969067"/>
            <a:ext cx="228594" cy="1771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04852" y="4727257"/>
            <a:ext cx="228594" cy="16573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76318" y="4714875"/>
            <a:ext cx="1104872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949AB"/>
                </a:solidFill>
              </a:rPr>
              <a:t>Total revenue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04852" y="5175885"/>
            <a:ext cx="228594" cy="12572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76318" y="5143500"/>
            <a:ext cx="1762080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949AB"/>
                </a:solidFill>
              </a:rPr>
              <a:t>Number of customers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04852" y="5570219"/>
            <a:ext cx="228594" cy="19430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76318" y="5553074"/>
            <a:ext cx="210497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</a:rPr>
              <a:t>Transactions per customer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8719" y="1047749"/>
            <a:ext cx="5286242" cy="2657475"/>
          </a:xfrm>
          <a:prstGeom prst="roundRect">
            <a:avLst>
              <a:gd name="adj" fmla="val 5734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6838" y="1285875"/>
            <a:ext cx="481000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3949AB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3949AB"/>
                </a:solidFill>
              </a:rPr>
              <a:t> Trial Period Definition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76838" y="1331595"/>
            <a:ext cx="228594" cy="194309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476838" y="2324100"/>
            <a:ext cx="2314517" cy="742950"/>
          </a:xfrm>
          <a:prstGeom prst="roundRect">
            <a:avLst>
              <a:gd name="adj" fmla="val 20512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9709" y="2457450"/>
            <a:ext cx="202877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3949AB"/>
                </a:solidFill>
              </a:rPr>
              <a:t>Pre-Trial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9709" y="2724150"/>
            <a:ext cx="202877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C6BC0"/>
                </a:solidFill>
              </a:rPr>
              <a:t>Feb - July 2018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72325" y="2324100"/>
            <a:ext cx="2314517" cy="742950"/>
          </a:xfrm>
          <a:prstGeom prst="roundRect">
            <a:avLst>
              <a:gd name="adj" fmla="val 20512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24721" y="2457450"/>
            <a:ext cx="202877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3949AB"/>
                </a:solidFill>
              </a:rPr>
              <a:t>Trial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4721" y="2724150"/>
            <a:ext cx="202877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C6BC0"/>
                </a:solidFill>
              </a:rPr>
              <a:t>Feb - Apr 2019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8719" y="3895724"/>
            <a:ext cx="5286242" cy="2486025"/>
          </a:xfrm>
          <a:prstGeom prst="roundRect">
            <a:avLst>
              <a:gd name="adj" fmla="val 613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6838" y="4133849"/>
            <a:ext cx="481000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3949AB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3949AB"/>
                </a:solidFill>
              </a:rPr>
              <a:t> Control Store Selection 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476838" y="4214812"/>
            <a:ext cx="228594" cy="1428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76838" y="5060632"/>
            <a:ext cx="228594" cy="16573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848303" y="5029200"/>
            <a:ext cx="311459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949AB"/>
                </a:solidFill>
              </a:rPr>
              <a:t>Pearson correlation</a:t>
            </a:r>
            <a:r>
              <a:rPr sz="1196" b="0">
                <a:solidFill>
                  <a:srgbClr val="000000"/>
                </a:solidFill>
              </a:rPr>
              <a:t> for trend similarity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76838" y="5499734"/>
            <a:ext cx="228594" cy="12572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48303" y="5448300"/>
            <a:ext cx="372418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949AB"/>
                </a:solidFill>
              </a:rPr>
              <a:t>Magnitude distance</a:t>
            </a:r>
            <a:r>
              <a:rPr sz="1196" b="0">
                <a:solidFill>
                  <a:srgbClr val="000000"/>
                </a:solidFill>
              </a:rPr>
              <a:t> for performance proximity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5190995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A237E"/>
                </a:solidFill>
              </a:rPr>
              <a:t>Control Store Selection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047749"/>
            <a:ext cx="1085822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1950"/>
              </a:spcAft>
            </a:pPr>
            <a:r>
              <a:rPr sz="1196" b="0">
                <a:solidFill>
                  <a:srgbClr val="5C6BC0"/>
                </a:solidFill>
              </a:rPr>
              <a:t>Control stores were selected based on high correlation and low distance in pre-trial performance to ensure fair comparison.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619250"/>
            <a:ext cx="10858228" cy="3724274"/>
          </a:xfrm>
          <a:prstGeom prst="roundRect">
            <a:avLst>
              <a:gd name="adj" fmla="val 4092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2476" y="1904999"/>
            <a:ext cx="10286742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3949AB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3949AB"/>
                </a:solidFill>
              </a:rPr>
              <a:t> Trial-Control Store Pairs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52476" y="1985962"/>
            <a:ext cx="228594" cy="14287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66733" y="5629275"/>
            <a:ext cx="5333866" cy="857250"/>
          </a:xfrm>
          <a:prstGeom prst="roundRect">
            <a:avLst>
              <a:gd name="adj" fmla="val 17777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57228" y="5969317"/>
            <a:ext cx="228594" cy="1771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28694" y="5819775"/>
            <a:ext cx="4581410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</a:rPr>
              <a:t>All correlations </a:t>
            </a:r>
            <a:r>
              <a:rPr sz="1076" b="1">
                <a:solidFill>
                  <a:srgbClr val="3949AB"/>
                </a:solidFill>
              </a:rPr>
              <a:t>&gt; 0.94</a:t>
            </a:r>
            <a:r>
              <a:rPr sz="1076" b="0">
                <a:solidFill>
                  <a:srgbClr val="000000"/>
                </a:solidFill>
              </a:rPr>
              <a:t>, indicating strong similarity in pre-trial trends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1095" y="5629275"/>
            <a:ext cx="5333866" cy="857250"/>
          </a:xfrm>
          <a:prstGeom prst="roundRect">
            <a:avLst>
              <a:gd name="adj" fmla="val 17777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381590" y="5955030"/>
            <a:ext cx="228594" cy="2057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53056" y="5819775"/>
            <a:ext cx="4581410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</a:rPr>
              <a:t>Store </a:t>
            </a:r>
            <a:r>
              <a:rPr sz="1076" b="1">
                <a:solidFill>
                  <a:srgbClr val="3949AB"/>
                </a:solidFill>
              </a:rPr>
              <a:t>77</a:t>
            </a:r>
            <a:r>
              <a:rPr sz="1076" b="0">
                <a:solidFill>
                  <a:srgbClr val="000000"/>
                </a:solidFill>
              </a:rPr>
              <a:t> has the highest correlation, making it the best-matched pair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4105172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A237E"/>
                </a:solidFill>
              </a:rPr>
              <a:t>Uplift Testing &amp; Indexing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047749"/>
            <a:ext cx="4228994" cy="1533525"/>
          </a:xfrm>
          <a:prstGeom prst="roundRect">
            <a:avLst>
              <a:gd name="adj" fmla="val 9937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4852" y="1285875"/>
            <a:ext cx="3752756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3949AB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3949AB"/>
                </a:solidFill>
              </a:rPr>
              <a:t> Normalization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04852" y="1357312"/>
            <a:ext cx="228594" cy="142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04852" y="1777364"/>
            <a:ext cx="228594" cy="2171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76318" y="1771650"/>
            <a:ext cx="3381290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</a:rPr>
              <a:t>Control store metrics normalized to match trial store baselines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2771775"/>
            <a:ext cx="4228994" cy="2343150"/>
          </a:xfrm>
          <a:prstGeom prst="roundRect">
            <a:avLst>
              <a:gd name="adj" fmla="val 6504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4852" y="3009900"/>
            <a:ext cx="3752756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3949AB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3949AB"/>
                </a:solidFill>
              </a:rPr>
              <a:t> Indexed Metrics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04852" y="3076574"/>
            <a:ext cx="228594" cy="17145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04852" y="3590924"/>
            <a:ext cx="1123921" cy="1285875"/>
          </a:xfrm>
          <a:prstGeom prst="roundRect">
            <a:avLst>
              <a:gd name="adj" fmla="val 13559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7723" y="3733799"/>
            <a:ext cx="838179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3949AB"/>
                </a:solidFill>
              </a:rPr>
              <a:t>Revenue Index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23" y="4219575"/>
            <a:ext cx="838179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64B5F6"/>
                </a:solidFill>
              </a:rPr>
              <a:t>RI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71645" y="3590924"/>
            <a:ext cx="1123921" cy="1285875"/>
          </a:xfrm>
          <a:prstGeom prst="roundRect">
            <a:avLst>
              <a:gd name="adj" fmla="val 13559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14517" y="3733799"/>
            <a:ext cx="838179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3949AB"/>
                </a:solidFill>
              </a:rPr>
              <a:t>Customer 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14517" y="4219575"/>
            <a:ext cx="838179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64B5F6"/>
                </a:solidFill>
              </a:rPr>
              <a:t>CI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8914" y="3590924"/>
            <a:ext cx="1228694" cy="1285875"/>
          </a:xfrm>
          <a:prstGeom prst="roundRect">
            <a:avLst>
              <a:gd name="adj" fmla="val 12403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71785" y="3733799"/>
            <a:ext cx="942951" cy="6572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3949AB"/>
                </a:solidFill>
              </a:rPr>
              <a:t>Transactions per Customer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1785" y="4438649"/>
            <a:ext cx="942951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64B5F6"/>
                </a:solidFill>
              </a:rPr>
              <a:t>TCI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733" y="5305425"/>
            <a:ext cx="4228994" cy="2247899"/>
          </a:xfrm>
          <a:prstGeom prst="roundRect">
            <a:avLst>
              <a:gd name="adj" fmla="val 6779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4852" y="5543550"/>
            <a:ext cx="3752756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3949AB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3949AB"/>
                </a:solidFill>
              </a:rPr>
              <a:t> Statistical Testing 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04852" y="5613082"/>
            <a:ext cx="228594" cy="165734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04852" y="6055042"/>
            <a:ext cx="228594" cy="17716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76318" y="6029325"/>
            <a:ext cx="3381290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949AB"/>
                </a:solidFill>
              </a:rPr>
              <a:t>t-tests</a:t>
            </a:r>
            <a:r>
              <a:rPr sz="1196" b="0">
                <a:solidFill>
                  <a:srgbClr val="000000"/>
                </a:solidFill>
              </a:rPr>
              <a:t> conducted to assess statistical significance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04852" y="6795134"/>
            <a:ext cx="228594" cy="12572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76318" y="6743700"/>
            <a:ext cx="3381290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</a:rPr>
              <a:t>Index values </a:t>
            </a:r>
            <a:r>
              <a:rPr sz="1196" b="1">
                <a:solidFill>
                  <a:srgbClr val="3949AB"/>
                </a:solidFill>
              </a:rPr>
              <a:t>&gt; 1</a:t>
            </a:r>
            <a:r>
              <a:rPr sz="1196" b="0">
                <a:solidFill>
                  <a:srgbClr val="000000"/>
                </a:solidFill>
              </a:rPr>
              <a:t> indicate trial store outperformed control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81470" y="1047749"/>
            <a:ext cx="6343491" cy="6505575"/>
          </a:xfrm>
          <a:prstGeom prst="roundRect">
            <a:avLst>
              <a:gd name="adj" fmla="val 2402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19589" y="1285875"/>
            <a:ext cx="5867253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3949AB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3949AB"/>
                </a:solidFill>
              </a:rPr>
              <a:t> Weekly Sales Trend Analysis 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419589" y="1360170"/>
            <a:ext cx="228594" cy="137159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5419589" y="1724024"/>
            <a:ext cx="5867253" cy="2905124"/>
          </a:xfrm>
          <a:prstGeom prst="roundRect">
            <a:avLst/>
          </a:prstGeom>
          <a:blipFill>
            <a:blip r:embed="rId9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19589" y="4914900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10084" y="4867274"/>
            <a:ext cx="69530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C6BC0"/>
                </a:solidFill>
              </a:rPr>
              <a:t>Trial Start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19589" y="5229225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10084" y="5181599"/>
            <a:ext cx="62863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C6BC0"/>
                </a:solidFill>
              </a:rPr>
              <a:t>Trial 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4124221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A237E"/>
                </a:solidFill>
              </a:rPr>
              <a:t>Experimentation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047749"/>
            <a:ext cx="761980" cy="761999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33" y="1047749"/>
            <a:ext cx="761980" cy="761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2E7D32"/>
                </a:solidFill>
              </a:rPr>
              <a:t>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19209" y="1257300"/>
            <a:ext cx="1562060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2E7D32"/>
                </a:solidFill>
              </a:rPr>
              <a:t>Success 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000250"/>
            <a:ext cx="5286242" cy="3305174"/>
          </a:xfrm>
          <a:prstGeom prst="roundRect">
            <a:avLst>
              <a:gd name="adj" fmla="val 461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52476" y="2346877"/>
            <a:ext cx="266693" cy="14494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62040" y="2286000"/>
            <a:ext cx="385752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</a:rPr>
              <a:t> </a:t>
            </a:r>
            <a:r>
              <a:rPr sz="1196" b="1">
                <a:solidFill>
                  <a:srgbClr val="2E7D32"/>
                </a:solidFill>
              </a:rPr>
              <a:t>Significant uplift</a:t>
            </a:r>
            <a:r>
              <a:rPr sz="1196" b="0">
                <a:solidFill>
                  <a:srgbClr val="000000"/>
                </a:solidFill>
              </a:rPr>
              <a:t> in revenue and customer count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52476" y="2830167"/>
            <a:ext cx="266693" cy="22611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62040" y="2809875"/>
            <a:ext cx="3257468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</a:rPr>
              <a:t> Statistically significant results </a:t>
            </a:r>
            <a:r>
              <a:rPr sz="1196" b="1">
                <a:solidFill>
                  <a:srgbClr val="2E7D32"/>
                </a:solidFill>
              </a:rPr>
              <a:t>p &lt; 0.05</a:t>
            </a:r>
            <a:r>
              <a:rPr sz="1196" b="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00379" y="2809875"/>
            <a:ext cx="819129" cy="361950"/>
          </a:xfrm>
          <a:prstGeom prst="roundRect">
            <a:avLst>
              <a:gd name="adj" fmla="val 21052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52476" y="3443287"/>
            <a:ext cx="266693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62040" y="3409950"/>
            <a:ext cx="422899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</a:rPr>
              <a:t> Clear evidence that new layout </a:t>
            </a:r>
            <a:r>
              <a:rPr sz="1196" b="1">
                <a:solidFill>
                  <a:srgbClr val="2E7D32"/>
                </a:solidFill>
              </a:rPr>
              <a:t>drove positive results</a:t>
            </a:r>
            <a:r>
              <a:rPr sz="1196" b="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8719" y="1047749"/>
            <a:ext cx="761980" cy="761999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8719" y="1047749"/>
            <a:ext cx="761980" cy="761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7B1FA2"/>
                </a:solidFill>
              </a:rPr>
              <a:t>77 &amp; 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1195" y="1257300"/>
            <a:ext cx="232404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7B1FA2"/>
                </a:solidFill>
              </a:rPr>
              <a:t>Inconclusive Results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8719" y="2000250"/>
            <a:ext cx="5286242" cy="3305174"/>
          </a:xfrm>
          <a:prstGeom prst="roundRect">
            <a:avLst>
              <a:gd name="adj" fmla="val 461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524461" y="2367169"/>
            <a:ext cx="266693" cy="1043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934026" y="2286000"/>
            <a:ext cx="272408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</a:rPr>
              <a:t> </a:t>
            </a:r>
            <a:r>
              <a:rPr sz="1196" b="1">
                <a:solidFill>
                  <a:srgbClr val="7B1FA2"/>
                </a:solidFill>
              </a:rPr>
              <a:t>No consistent uplift</a:t>
            </a:r>
            <a:r>
              <a:rPr sz="1196" b="0">
                <a:solidFill>
                  <a:srgbClr val="000000"/>
                </a:solidFill>
              </a:rPr>
              <a:t> in key metrics 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24461" y="2830167"/>
            <a:ext cx="266693" cy="22611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934026" y="2809875"/>
            <a:ext cx="2990775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</a:rPr>
              <a:t> Not statistically significant </a:t>
            </a:r>
            <a:r>
              <a:rPr sz="1196" b="1">
                <a:solidFill>
                  <a:srgbClr val="7B1FA2"/>
                </a:solidFill>
              </a:rPr>
              <a:t>p &gt; 0.05</a:t>
            </a:r>
            <a:r>
              <a:rPr sz="1196" b="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05672" y="2809875"/>
            <a:ext cx="819129" cy="361950"/>
          </a:xfrm>
          <a:prstGeom prst="roundRect">
            <a:avLst>
              <a:gd name="adj" fmla="val 21052"/>
            </a:avLst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24461" y="3430242"/>
            <a:ext cx="266693" cy="2261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934026" y="3409950"/>
            <a:ext cx="409564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</a:rPr>
              <a:t> Layout change </a:t>
            </a:r>
            <a:r>
              <a:rPr sz="1196" b="1">
                <a:solidFill>
                  <a:srgbClr val="7B1FA2"/>
                </a:solidFill>
              </a:rPr>
              <a:t>did not produce measurable impact</a:t>
            </a:r>
            <a:r>
              <a:rPr sz="1196" b="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6733" y="5591175"/>
            <a:ext cx="10858228" cy="790574"/>
          </a:xfrm>
          <a:prstGeom prst="roundRect">
            <a:avLst>
              <a:gd name="adj" fmla="val 19277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04852" y="5852746"/>
            <a:ext cx="304792" cy="25790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400139" y="5829300"/>
            <a:ext cx="731501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3949AB"/>
                </a:solidFill>
              </a:rPr>
              <a:t>Only Store 86 showed clear, statistically significant uplift from the new layout trial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3762280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A237E"/>
                </a:solidFill>
              </a:rPr>
              <a:t>What Drove the Uplift?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047749"/>
            <a:ext cx="761980" cy="761999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33" y="1047749"/>
            <a:ext cx="761980" cy="761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2E7D32"/>
                </a:solidFill>
              </a:rPr>
              <a:t>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19209" y="1257300"/>
            <a:ext cx="150491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2E7D32"/>
                </a:solidFill>
              </a:rPr>
              <a:t>Uplift Drivers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047874"/>
            <a:ext cx="5762480" cy="4333875"/>
          </a:xfrm>
          <a:prstGeom prst="roundRect">
            <a:avLst>
              <a:gd name="adj" fmla="val 3516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52476" y="2357071"/>
            <a:ext cx="304792" cy="2579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47763" y="2343150"/>
            <a:ext cx="2705032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2E7D32"/>
                </a:solidFill>
              </a:rPr>
              <a:t>More purchasing customers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52476" y="2966671"/>
            <a:ext cx="304792" cy="2579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47763" y="2952750"/>
            <a:ext cx="3819429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C62828"/>
                </a:solidFill>
              </a:rPr>
              <a:t>Not by more transactions per customer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14957" y="1047749"/>
            <a:ext cx="4810004" cy="761999"/>
          </a:xfrm>
          <a:prstGeom prst="roundRect">
            <a:avLst>
              <a:gd name="adj" fmla="val 20000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953076" y="1297470"/>
            <a:ext cx="266693" cy="2435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62640" y="1285875"/>
            <a:ext cx="350511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</a:rPr>
              <a:t> Indicates </a:t>
            </a:r>
            <a:r>
              <a:rPr sz="1196" b="1">
                <a:solidFill>
                  <a:srgbClr val="3949AB"/>
                </a:solidFill>
              </a:rPr>
              <a:t>improved footfall</a:t>
            </a:r>
            <a:r>
              <a:rPr sz="1196" b="0">
                <a:solidFill>
                  <a:srgbClr val="000000"/>
                </a:solidFill>
              </a:rPr>
              <a:t> or layout appeal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14957" y="2000250"/>
            <a:ext cx="4810004" cy="761999"/>
          </a:xfrm>
          <a:prstGeom prst="roundRect">
            <a:avLst>
              <a:gd name="adj" fmla="val 20000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953076" y="2281858"/>
            <a:ext cx="266693" cy="1797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62640" y="2238375"/>
            <a:ext cx="356226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</a:rPr>
              <a:t> Enhanced </a:t>
            </a:r>
            <a:r>
              <a:rPr sz="1196" b="1">
                <a:solidFill>
                  <a:srgbClr val="3949AB"/>
                </a:solidFill>
              </a:rPr>
              <a:t>product visibility</a:t>
            </a:r>
            <a:r>
              <a:rPr sz="1196" b="0">
                <a:solidFill>
                  <a:srgbClr val="000000"/>
                </a:solidFill>
              </a:rPr>
              <a:t> and accessibility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14957" y="5314950"/>
            <a:ext cx="4810004" cy="1066799"/>
          </a:xfrm>
          <a:prstGeom prst="roundRect">
            <a:avLst>
              <a:gd name="adj" fmla="val 14285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953076" y="5719396"/>
            <a:ext cx="304792" cy="25790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400739" y="5553074"/>
            <a:ext cx="3886102" cy="5905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9800"/>
                </a:solidFill>
              </a:rPr>
              <a:t>Not a result of increased loyalty or frequency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3133646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A237E"/>
                </a:solidFill>
              </a:rPr>
              <a:t>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047749"/>
            <a:ext cx="5286242" cy="666750"/>
          </a:xfrm>
          <a:prstGeom prst="roundRect">
            <a:avLst>
              <a:gd name="adj" fmla="val 22857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258542"/>
            <a:ext cx="266693" cy="2261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66793" y="1238249"/>
            <a:ext cx="377180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</a:rPr>
              <a:t> Roll out new layout to stores </a:t>
            </a:r>
            <a:r>
              <a:rPr sz="1196" b="1">
                <a:solidFill>
                  <a:srgbClr val="2E7D32"/>
                </a:solidFill>
              </a:rPr>
              <a:t>similar to Store 86</a:t>
            </a:r>
            <a:r>
              <a:rPr sz="1196" b="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1904999"/>
            <a:ext cx="5286242" cy="666750"/>
          </a:xfrm>
          <a:prstGeom prst="roundRect">
            <a:avLst>
              <a:gd name="adj" fmla="val 22857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57228" y="2127388"/>
            <a:ext cx="266693" cy="2029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6793" y="2095499"/>
            <a:ext cx="380037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</a:rPr>
              <a:t> Further test layout in stores </a:t>
            </a:r>
            <a:r>
              <a:rPr sz="1196" b="1">
                <a:solidFill>
                  <a:srgbClr val="7B1FA2"/>
                </a:solidFill>
              </a:rPr>
              <a:t>similar to 77 and 88</a:t>
            </a:r>
            <a:r>
              <a:rPr sz="1196" b="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2762249"/>
            <a:ext cx="5286242" cy="952499"/>
          </a:xfrm>
          <a:prstGeom prst="roundRect">
            <a:avLst>
              <a:gd name="adj" fmla="val 16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36640" y="2952750"/>
            <a:ext cx="1241336" cy="2666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00259" y="2952750"/>
            <a:ext cx="3162220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</a:rPr>
              <a:t> Focus promotions on </a:t>
            </a:r>
            <a:r>
              <a:rPr sz="1196" b="1">
                <a:solidFill>
                  <a:srgbClr val="F57C00"/>
                </a:solidFill>
              </a:rPr>
              <a:t>premium segments and mid-size packs</a:t>
            </a:r>
            <a:r>
              <a:rPr sz="1196" b="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3905249"/>
            <a:ext cx="5286242" cy="666750"/>
          </a:xfrm>
          <a:prstGeom prst="roundRect">
            <a:avLst>
              <a:gd name="adj" fmla="val 22857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57228" y="4114592"/>
            <a:ext cx="266693" cy="22901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66793" y="4095749"/>
            <a:ext cx="367655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</a:rPr>
              <a:t> Leverage </a:t>
            </a:r>
            <a:r>
              <a:rPr sz="1196" b="1">
                <a:solidFill>
                  <a:srgbClr val="0288D1"/>
                </a:solidFill>
              </a:rPr>
              <a:t>seasonal trends</a:t>
            </a:r>
            <a:r>
              <a:rPr sz="1196" b="0">
                <a:solidFill>
                  <a:srgbClr val="000000"/>
                </a:solidFill>
              </a:rPr>
              <a:t> for campaign timing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4762500"/>
            <a:ext cx="5286242" cy="666750"/>
          </a:xfrm>
          <a:prstGeom prst="roundRect">
            <a:avLst>
              <a:gd name="adj" fmla="val 22857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57228" y="4973292"/>
            <a:ext cx="266693" cy="22611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66793" y="4952999"/>
            <a:ext cx="448616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</a:rPr>
              <a:t> Maintain </a:t>
            </a:r>
            <a:r>
              <a:rPr sz="1196" b="1">
                <a:solidFill>
                  <a:srgbClr val="546E7A"/>
                </a:solidFill>
              </a:rPr>
              <a:t>reproducible analytics pipeline</a:t>
            </a:r>
            <a:r>
              <a:rPr sz="1196" b="0">
                <a:solidFill>
                  <a:srgbClr val="000000"/>
                </a:solidFill>
              </a:rPr>
              <a:t> for future trials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8719" y="1047749"/>
            <a:ext cx="5286242" cy="5334000"/>
          </a:xfrm>
          <a:prstGeom prst="roundRect">
            <a:avLst>
              <a:gd name="adj" fmla="val 2882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6838" y="1285875"/>
            <a:ext cx="481000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3949AB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3949AB"/>
                </a:solidFill>
              </a:rPr>
              <a:t> Sales by Pack Size 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76838" y="1357312"/>
            <a:ext cx="228594" cy="142875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476838" y="1771650"/>
            <a:ext cx="4810004" cy="2343150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76838" y="4305300"/>
            <a:ext cx="4810004" cy="523874"/>
          </a:xfrm>
          <a:prstGeom prst="roundRect">
            <a:avLst>
              <a:gd name="adj" fmla="val 29090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619709" y="4465320"/>
            <a:ext cx="228594" cy="1943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991175" y="4448175"/>
            <a:ext cx="389562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949AB"/>
                </a:solidFill>
              </a:rPr>
              <a:t>175g packs show highest sales, followed by 150g packs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18573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A237E"/>
                </a:solidFill>
              </a:rP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409699"/>
            <a:ext cx="10858228" cy="914400"/>
          </a:xfrm>
          <a:prstGeom prst="roundRect">
            <a:avLst>
              <a:gd name="adj" fmla="val 16666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52476" y="1745702"/>
            <a:ext cx="342891" cy="2423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33486" y="1695449"/>
            <a:ext cx="513384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000000"/>
                </a:solidFill>
              </a:rPr>
              <a:t> </a:t>
            </a:r>
            <a:r>
              <a:rPr sz="1435" b="1">
                <a:solidFill>
                  <a:srgbClr val="3949AB"/>
                </a:solidFill>
              </a:rPr>
              <a:t>Data-driven experimentation</a:t>
            </a:r>
            <a:r>
              <a:rPr sz="1435" b="0">
                <a:solidFill>
                  <a:srgbClr val="000000"/>
                </a:solidFill>
              </a:rPr>
              <a:t> validated layout impact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552700"/>
            <a:ext cx="10858228" cy="914400"/>
          </a:xfrm>
          <a:prstGeom prst="roundRect">
            <a:avLst>
              <a:gd name="adj" fmla="val 16666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52476" y="2876878"/>
            <a:ext cx="342891" cy="2660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33486" y="2838450"/>
            <a:ext cx="465760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000000"/>
                </a:solidFill>
              </a:rPr>
              <a:t> Customer analytics revealed </a:t>
            </a:r>
            <a:r>
              <a:rPr sz="1435" b="1">
                <a:solidFill>
                  <a:srgbClr val="3949AB"/>
                </a:solidFill>
              </a:rPr>
              <a:t>key revenue drivers</a:t>
            </a:r>
            <a:r>
              <a:rPr sz="1435" b="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3714750"/>
            <a:ext cx="10858228" cy="914400"/>
          </a:xfrm>
          <a:prstGeom prst="roundRect">
            <a:avLst>
              <a:gd name="adj" fmla="val 16666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52476" y="4044840"/>
            <a:ext cx="342891" cy="25421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33486" y="4000500"/>
            <a:ext cx="5381490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000000"/>
                </a:solidFill>
              </a:rPr>
              <a:t> Project delivered </a:t>
            </a:r>
            <a:r>
              <a:rPr sz="1435" b="1">
                <a:solidFill>
                  <a:srgbClr val="3949AB"/>
                </a:solidFill>
              </a:rPr>
              <a:t>actionable insights</a:t>
            </a:r>
            <a:r>
              <a:rPr sz="1435" b="0">
                <a:solidFill>
                  <a:srgbClr val="000000"/>
                </a:solidFill>
              </a:rPr>
              <a:t> for category review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5048250"/>
            <a:ext cx="10858228" cy="971550"/>
          </a:xfrm>
          <a:prstGeom prst="roundRect">
            <a:avLst>
              <a:gd name="adj" fmla="val 15686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52476" y="5363854"/>
            <a:ext cx="400039" cy="34034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590635" y="5353049"/>
            <a:ext cx="6667333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2E7D32"/>
                </a:solidFill>
              </a:rPr>
              <a:t>Store 86 showed significant uplift → rollout recommended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1885" y="2247899"/>
            <a:ext cx="3047923" cy="800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460"/>
              </a:lnSpc>
              <a:spcBef>
                <a:spcPts val="0"/>
              </a:spcBef>
              <a:spcAft>
                <a:spcPts val="3250"/>
              </a:spcAft>
            </a:pPr>
            <a:r>
              <a:rPr sz="4186" b="1">
                <a:solidFill>
                  <a:srgbClr val="FFFFFF"/>
                </a:solidFill>
              </a:rPr>
              <a:t>Thank </a:t>
            </a:r>
            <a:r>
              <a:rPr sz="4186" b="1">
                <a:solidFill>
                  <a:srgbClr val="64B5F6"/>
                </a:solidFill>
              </a:rPr>
              <a:t>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62440" y="3524250"/>
            <a:ext cx="145728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950"/>
              </a:spcAft>
            </a:pPr>
            <a:r>
              <a:rPr sz="1674" b="1">
                <a:solidFill>
                  <a:srgbClr val="FFFFFF"/>
                </a:solidFill>
              </a:rPr>
              <a:t>Ritesh Gupta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647983" y="4372389"/>
            <a:ext cx="266693" cy="2087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028974" y="4343400"/>
            <a:ext cx="10381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</a:rPr>
              <a:t>8010211665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448163" y="4381085"/>
            <a:ext cx="266693" cy="1913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29154" y="4343400"/>
            <a:ext cx="271455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</a:rPr>
              <a:t>riteshshahofficial1@gmail.com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62750"/>
            <a:ext cx="12191695" cy="95249"/>
          </a:xfrm>
          <a:prstGeom prst="rect">
            <a:avLst/>
          </a:prstGeom>
          <a:gradFill rotWithShape="1">
            <a:gsLst>
              <a:gs pos="0">
                <a:srgbClr val="64B5F6"/>
              </a:gs>
              <a:gs pos="100000">
                <a:srgbClr val="1A237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